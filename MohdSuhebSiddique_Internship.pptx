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6" r:id="rId5"/>
    <p:sldId id="287" r:id="rId6"/>
    <p:sldId id="295" r:id="rId7"/>
    <p:sldId id="289" r:id="rId8"/>
    <p:sldId id="290" r:id="rId9"/>
    <p:sldId id="291" r:id="rId10"/>
    <p:sldId id="292" r:id="rId11"/>
    <p:sldId id="293" r:id="rId12"/>
    <p:sldId id="2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91" d="100"/>
          <a:sy n="91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LeftAccentBar"/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TopRightAccent"/>
          <p:cNvSpPr/>
          <p:nvPr userDrawn="1"/>
        </p:nvSpPr>
        <p:spPr>
          <a:xfrm>
            <a:off x="11201400" y="0"/>
            <a:ext cx="45720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F44"/>
            </a:gs>
            <a:gs pos="50000">
              <a:srgbClr val="1F4E9D"/>
            </a:gs>
            <a:gs pos="100000">
              <a:srgbClr val="0A1F4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DecorCircle1"/>
          <p:cNvSpPr/>
          <p:nvPr/>
        </p:nvSpPr>
        <p:spPr>
          <a:xfrm>
            <a:off x="9525000" y="4572000"/>
            <a:ext cx="2286000" cy="2286000"/>
          </a:xfrm>
          <a:prstGeom prst="ellipse">
            <a:avLst/>
          </a:prstGeom>
          <a:solidFill>
            <a:srgbClr val="00A8E0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DecorCircle2"/>
          <p:cNvSpPr/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00A8E0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" name="DecorBar"/>
          <p:cNvSpPr/>
          <p:nvPr/>
        </p:nvSpPr>
        <p:spPr>
          <a:xfrm>
            <a:off x="3886200" y="3429000"/>
            <a:ext cx="4419600" cy="4572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5E6C4-993B-CF9E-F949-DAFC5CA15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5163"/>
            <a:ext cx="9144000" cy="2387600"/>
          </a:xfrm>
        </p:spPr>
        <p:txBody>
          <a:bodyPr/>
          <a:lstStyle/>
          <a:p>
            <a:pPr algn="ctr">
              <a:buNone/>
            </a:pPr>
            <a:r>
              <a:rPr lang="en-US" sz="2000" b="1" spc="300" dirty="0">
                <a:solidFill>
                  <a:srgbClr val="00A8E0"/>
                </a:solidFill>
              </a:rPr>
              <a:t>INTERNSHIP EXAM</a:t>
            </a:r>
          </a:p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Cognizant</a:t>
            </a:r>
          </a:p>
          <a:p>
            <a:pPr algn="ctr">
              <a:buNone/>
            </a:pPr>
            <a:r>
              <a:rPr lang="en-US" sz="2000" dirty="0">
                <a:solidFill>
                  <a:srgbClr val="8FB8E2"/>
                </a:solidFill>
              </a:rPr>
              <a:t>Software Developer Engineering in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87A49-7CBA-FF1F-A5B6-7E6DDB3C2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4119"/>
            <a:ext cx="9144000" cy="1655762"/>
          </a:xfrm>
        </p:spPr>
        <p:txBody>
          <a:bodyPr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Mohd Suheb Siddique</a:t>
            </a:r>
          </a:p>
          <a:p>
            <a:pPr algn="ctr">
              <a:buNone/>
            </a:pPr>
            <a:r>
              <a:rPr lang="en-US" sz="1500" dirty="0">
                <a:solidFill>
                  <a:srgbClr val="CFE4F7"/>
                </a:solidFill>
              </a:rPr>
              <a:t>Admission No. 22SCSE1300012  |  B.Tech CSE</a:t>
            </a:r>
          </a:p>
          <a:p>
            <a:pPr algn="ctr">
              <a:buNone/>
            </a:pPr>
            <a:r>
              <a:rPr lang="en-US" sz="1500" i="1" dirty="0">
                <a:solidFill>
                  <a:srgbClr val="00A8E0"/>
                </a:solidFill>
              </a:rPr>
              <a:t>Specialization: IoT, Blockchain &amp; Cybersecurity</a:t>
            </a:r>
          </a:p>
          <a:p>
            <a:pPr algn="ctr">
              <a:buNone/>
            </a:pPr>
            <a:r>
              <a:rPr lang="en-US" sz="1400" dirty="0">
                <a:solidFill>
                  <a:srgbClr val="CFE4F7"/>
                </a:solidFill>
              </a:rPr>
              <a:t>Galgotias University</a:t>
            </a:r>
          </a:p>
        </p:txBody>
      </p:sp>
    </p:spTree>
    <p:extLst>
      <p:ext uri="{BB962C8B-B14F-4D97-AF65-F5344CB8AC3E}">
        <p14:creationId xmlns:p14="http://schemas.microsoft.com/office/powerpoint/2010/main" val="428407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SideAccent"/>
          <p:cNvSpPr/>
          <p:nvPr/>
        </p:nvSpPr>
        <p:spPr>
          <a:xfrm>
            <a:off x="1524000" y="2095500"/>
            <a:ext cx="76200" cy="26289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1" name="CornerSquare"/>
          <p:cNvSpPr/>
          <p:nvPr/>
        </p:nvSpPr>
        <p:spPr>
          <a:xfrm rot="2700000">
            <a:off x="9906000" y="1905000"/>
            <a:ext cx="457200" cy="457200"/>
          </a:xfrm>
          <a:prstGeom prst="rect">
            <a:avLst/>
          </a:prstGeom>
          <a:solidFill>
            <a:srgbClr val="00A8E0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6F7A5-77CD-5CB6-0B1E-5DF70DE2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chemeClr val="accent3"/>
                </a:solidFill>
              </a:rPr>
              <a:t>Offer Letter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668CE-371A-F526-A2A5-BC2DE299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653" y="1278330"/>
            <a:ext cx="6500204" cy="501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3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FF65B1-8851-4297-83FB-2DD70F816C99}"/>
              </a:ext>
            </a:extLst>
          </p:cNvPr>
          <p:cNvSpPr/>
          <p:nvPr/>
        </p:nvSpPr>
        <p:spPr>
          <a:xfrm>
            <a:off x="9601200" y="2540000"/>
            <a:ext cx="2032000" cy="2794000"/>
          </a:xfrm>
          <a:prstGeom prst="roundRect">
            <a:avLst/>
          </a:prstGeom>
          <a:solidFill>
            <a:srgbClr val="EEF3FA"/>
          </a:solidFill>
          <a:ln w="19050" cap="flat" cmpd="sng" algn="ctr">
            <a:solidFill>
              <a:srgbClr val="F3920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A1F44"/>
                </a:solidFill>
              </a:rPr>
              <a:t>
Stage 5
Final Test
&amp; Interview</a:t>
            </a:r>
            <a:endParaRPr lang="en-IN" sz="1600" b="1">
              <a:solidFill>
                <a:srgbClr val="0A1F44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1AA96F-7F66-450E-9E71-11E3FFC7752C}"/>
              </a:ext>
            </a:extLst>
          </p:cNvPr>
          <p:cNvSpPr/>
          <p:nvPr/>
        </p:nvSpPr>
        <p:spPr>
          <a:xfrm>
            <a:off x="7340600" y="2540000"/>
            <a:ext cx="2032000" cy="2794000"/>
          </a:xfrm>
          <a:prstGeom prst="roundRect">
            <a:avLst/>
          </a:prstGeom>
          <a:solidFill>
            <a:srgbClr val="EEF3FA"/>
          </a:solidFill>
          <a:ln w="19050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0A1F44"/>
                </a:solidFill>
              </a:rPr>
              <a:t>
Stage 4
Project
Development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F6942C-87BD-484D-8D06-9BE76D50C0B2}"/>
              </a:ext>
            </a:extLst>
          </p:cNvPr>
          <p:cNvSpPr/>
          <p:nvPr/>
        </p:nvSpPr>
        <p:spPr>
          <a:xfrm>
            <a:off x="5080000" y="2540000"/>
            <a:ext cx="2032000" cy="2794000"/>
          </a:xfrm>
          <a:prstGeom prst="roundRect">
            <a:avLst/>
          </a:prstGeom>
          <a:solidFill>
            <a:srgbClr val="EEF3FA"/>
          </a:solidFill>
          <a:ln w="19050" cap="flat" cmpd="sng" algn="ctr">
            <a:solidFill>
              <a:srgbClr val="0093C9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0A1F44"/>
                </a:solidFill>
              </a:rPr>
              <a:t>
Stage 3
Framework
Development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F5DA8F-2A93-4B78-897B-2B3AB8777F29}"/>
              </a:ext>
            </a:extLst>
          </p:cNvPr>
          <p:cNvSpPr/>
          <p:nvPr/>
        </p:nvSpPr>
        <p:spPr>
          <a:xfrm>
            <a:off x="2819400" y="2540000"/>
            <a:ext cx="2032000" cy="2794000"/>
          </a:xfrm>
          <a:prstGeom prst="roundRect">
            <a:avLst/>
          </a:prstGeom>
          <a:solidFill>
            <a:srgbClr val="EEF3FA"/>
          </a:solidFill>
          <a:ln w="19050" cap="flat" cmpd="sng" algn="ctr">
            <a:solidFill>
              <a:srgbClr val="2A6BBF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0A1F44"/>
                </a:solidFill>
              </a:rPr>
              <a:t>
Stage 2
Testing
Phases</a:t>
            </a:r>
          </a:p>
        </p:txBody>
      </p:sp>
      <p:sp>
        <p:nvSpPr>
          <p:cNvPr id="1200" name="ConnectorLine"/>
          <p:cNvSpPr/>
          <p:nvPr/>
        </p:nvSpPr>
        <p:spPr>
          <a:xfrm>
            <a:off x="558800" y="3175000"/>
            <a:ext cx="11201400" cy="25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E59B9A-DEBE-4E73-88EB-EACD955D86DC}"/>
              </a:ext>
            </a:extLst>
          </p:cNvPr>
          <p:cNvSpPr/>
          <p:nvPr/>
        </p:nvSpPr>
        <p:spPr>
          <a:xfrm>
            <a:off x="558800" y="2540000"/>
            <a:ext cx="2032000" cy="2794000"/>
          </a:xfrm>
          <a:prstGeom prst="roundRect">
            <a:avLst/>
          </a:prstGeom>
          <a:solidFill>
            <a:srgbClr val="EEF3FA"/>
          </a:solidFill>
          <a:ln w="19050" cap="flat" cmpd="sng" algn="ctr">
            <a:solidFill>
              <a:srgbClr val="1F4E9D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0A1F44"/>
                </a:solidFill>
              </a:rPr>
              <a:t>
Stage 1
Behavioural
Training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D9A7C-2717-73EA-A4A7-D542A6C3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chemeClr val="accent3"/>
                </a:solidFill>
              </a:rPr>
              <a:t>The Internship Path</a:t>
            </a:r>
          </a:p>
          <a:p>
            <a:pPr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Five stages from onboarding to project completion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F8D71D-4EFC-4DA8-AEEC-69C963B1FB89}"/>
              </a:ext>
            </a:extLst>
          </p:cNvPr>
          <p:cNvSpPr/>
          <p:nvPr/>
        </p:nvSpPr>
        <p:spPr>
          <a:xfrm>
            <a:off x="1168400" y="2768600"/>
            <a:ext cx="812800" cy="812800"/>
          </a:xfrm>
          <a:prstGeom prst="ellipse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275CC0-77B2-47BC-81EA-C5A51B002362}"/>
              </a:ext>
            </a:extLst>
          </p:cNvPr>
          <p:cNvSpPr/>
          <p:nvPr/>
        </p:nvSpPr>
        <p:spPr>
          <a:xfrm>
            <a:off x="3429000" y="2768600"/>
            <a:ext cx="812800" cy="812800"/>
          </a:xfrm>
          <a:prstGeom prst="ellipse">
            <a:avLst/>
          </a:prstGeom>
          <a:solidFill>
            <a:srgbClr val="2A6BBF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75840B-CAB7-46ED-B3DE-727C020C450C}"/>
              </a:ext>
            </a:extLst>
          </p:cNvPr>
          <p:cNvSpPr/>
          <p:nvPr/>
        </p:nvSpPr>
        <p:spPr>
          <a:xfrm>
            <a:off x="5689600" y="2768600"/>
            <a:ext cx="812800" cy="812800"/>
          </a:xfrm>
          <a:prstGeom prst="ellipse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CD3C81-B324-41C4-AB16-744EE4445547}"/>
              </a:ext>
            </a:extLst>
          </p:cNvPr>
          <p:cNvSpPr/>
          <p:nvPr/>
        </p:nvSpPr>
        <p:spPr>
          <a:xfrm>
            <a:off x="7950200" y="2768600"/>
            <a:ext cx="812800" cy="812800"/>
          </a:xfrm>
          <a:prstGeom prst="ellipse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315F06-68E4-4216-8D23-5BCF004145CB}"/>
              </a:ext>
            </a:extLst>
          </p:cNvPr>
          <p:cNvSpPr/>
          <p:nvPr/>
        </p:nvSpPr>
        <p:spPr>
          <a:xfrm>
            <a:off x="10210800" y="2768600"/>
            <a:ext cx="812800" cy="812800"/>
          </a:xfrm>
          <a:prstGeom prst="ellipse">
            <a:avLst/>
          </a:prstGeom>
          <a:solidFill>
            <a:srgbClr val="8A4900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64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8" grpId="0" animBg="1"/>
      <p:bldP spid="6" grpId="0" animBg="1"/>
      <p:bldP spid="4" grpId="0" animBg="1"/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TopLeftAccent"/>
          <p:cNvSpPr/>
          <p:nvPr/>
        </p:nvSpPr>
        <p:spPr>
          <a:xfrm>
            <a:off x="0" y="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1" name="TopLeftAccent2"/>
          <p:cNvSpPr/>
          <p:nvPr/>
        </p:nvSpPr>
        <p:spPr>
          <a:xfrm>
            <a:off x="0" y="76200"/>
            <a:ext cx="76200" cy="6858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3E41-AADA-93B4-2151-B01A3B0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STAGE 1</a:t>
            </a:r>
          </a:p>
          <a:p>
            <a:pPr algn="l">
              <a:buNone/>
            </a:pPr>
            <a:r>
              <a:rPr lang="en-US" sz="3600" b="1" dirty="0">
                <a:solidFill>
                  <a:schemeClr val="accent3"/>
                </a:solidFill>
              </a:rPr>
              <a:t>Behavioural Training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39F6DF-B055-4C5F-A7A8-7581DAF3A635}"/>
              </a:ext>
            </a:extLst>
          </p:cNvPr>
          <p:cNvSpPr/>
          <p:nvPr/>
        </p:nvSpPr>
        <p:spPr>
          <a:xfrm>
            <a:off x="647700" y="2222500"/>
            <a:ext cx="3429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E9D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82880" tIns="1143000" rIns="182880" bIns="182880" rtlCol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Self-Presentation</a:t>
            </a:r>
          </a:p>
          <a:p>
            <a:pPr algn="ctr">
              <a:buNone/>
            </a:pPr>
            <a:r>
              <a:rPr lang="en-US" sz="800" dirty="0"/>
              <a:t> </a:t>
            </a:r>
          </a:p>
          <a:p>
            <a:pPr algn="ctr">
              <a:buNone/>
            </a:pPr>
            <a:r>
              <a:rPr lang="en-US" sz="1400" dirty="0">
                <a:solidFill>
                  <a:schemeClr val="dk1"/>
                </a:solidFill>
              </a:rPr>
              <a:t>How to present yourself confidently in projects and team meetings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AC66E8-7CA7-49D9-89F9-D233DA8435B7}"/>
              </a:ext>
            </a:extLst>
          </p:cNvPr>
          <p:cNvSpPr/>
          <p:nvPr/>
        </p:nvSpPr>
        <p:spPr>
          <a:xfrm>
            <a:off x="2006600" y="2501900"/>
            <a:ext cx="711200" cy="711200"/>
          </a:xfrm>
          <a:prstGeom prst="ellipse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C45194-23E0-45E0-822E-511FEF55DFDA}"/>
              </a:ext>
            </a:extLst>
          </p:cNvPr>
          <p:cNvSpPr/>
          <p:nvPr/>
        </p:nvSpPr>
        <p:spPr>
          <a:xfrm>
            <a:off x="4381500" y="2222500"/>
            <a:ext cx="3429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E9D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82880" tIns="1143000" rIns="182880" bIns="182880" rtlCol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Team Collaboration</a:t>
            </a:r>
          </a:p>
          <a:p>
            <a:pPr algn="ctr">
              <a:buNone/>
            </a:pPr>
            <a:r>
              <a:rPr lang="en-US" sz="800" dirty="0"/>
              <a:t> </a:t>
            </a:r>
          </a:p>
          <a:p>
            <a:pPr algn="ctr">
              <a:buNone/>
            </a:pPr>
            <a:r>
              <a:rPr lang="en-US" sz="1400" dirty="0">
                <a:solidFill>
                  <a:schemeClr val="dk1"/>
                </a:solidFill>
              </a:rPr>
              <a:t>How to accept and value diverse opinions and viewpoints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AD8877-04AE-4B94-8E4D-C78F03CA280A}"/>
              </a:ext>
            </a:extLst>
          </p:cNvPr>
          <p:cNvSpPr/>
          <p:nvPr/>
        </p:nvSpPr>
        <p:spPr>
          <a:xfrm>
            <a:off x="5740400" y="2501900"/>
            <a:ext cx="711200" cy="711200"/>
          </a:xfrm>
          <a:prstGeom prst="ellipse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B9DDB0-64C2-4C11-8FAF-37F57FFBFBDC}"/>
              </a:ext>
            </a:extLst>
          </p:cNvPr>
          <p:cNvSpPr/>
          <p:nvPr/>
        </p:nvSpPr>
        <p:spPr>
          <a:xfrm>
            <a:off x="8115300" y="2222500"/>
            <a:ext cx="3429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E9D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82880" tIns="1143000" rIns="182880" bIns="182880" rtlCol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Leadership &amp; Ownership</a:t>
            </a:r>
          </a:p>
          <a:p>
            <a:pPr algn="ctr">
              <a:buNone/>
            </a:pPr>
            <a:r>
              <a:rPr lang="en-US" sz="800" dirty="0"/>
              <a:t> </a:t>
            </a:r>
          </a:p>
          <a:p>
            <a:pPr algn="ctr">
              <a:buNone/>
            </a:pPr>
            <a:r>
              <a:rPr lang="en-US" sz="1400" dirty="0">
                <a:solidFill>
                  <a:schemeClr val="dk1"/>
                </a:solidFill>
              </a:rPr>
              <a:t>How to lead and take strong ownership of your assigned work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4FD62D-B6B4-4D78-865D-46D48DA23941}"/>
              </a:ext>
            </a:extLst>
          </p:cNvPr>
          <p:cNvSpPr/>
          <p:nvPr/>
        </p:nvSpPr>
        <p:spPr>
          <a:xfrm>
            <a:off x="9474200" y="2501900"/>
            <a:ext cx="711200" cy="711200"/>
          </a:xfrm>
          <a:prstGeom prst="ellipse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500" name="StatusBanner"/>
          <p:cNvSpPr/>
          <p:nvPr/>
        </p:nvSpPr>
        <p:spPr>
          <a:xfrm>
            <a:off x="2438400" y="5181600"/>
            <a:ext cx="6324600" cy="457200"/>
          </a:xfrm>
          <a:prstGeom prst="roundRect">
            <a:avLst>
              <a:gd name="adj" fmla="val 50000"/>
            </a:avLst>
          </a:prstGeom>
          <a:solidFill>
            <a:srgbClr val="0F6B43"/>
          </a:solidFill>
          <a:ln>
            <a:noFill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txBody>
          <a:bodyPr lIns="91440" tIns="0" rIns="9144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Stage 1 Assessment Completed</a:t>
            </a:r>
          </a:p>
        </p:txBody>
      </p:sp>
    </p:spTree>
    <p:extLst>
      <p:ext uri="{BB962C8B-B14F-4D97-AF65-F5344CB8AC3E}">
        <p14:creationId xmlns:p14="http://schemas.microsoft.com/office/powerpoint/2010/main" val="410437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TopLeftBar"/>
          <p:cNvSpPr/>
          <p:nvPr/>
        </p:nvSpPr>
        <p:spPr>
          <a:xfrm>
            <a:off x="0" y="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1" name="BottomRightBar"/>
          <p:cNvSpPr/>
          <p:nvPr/>
        </p:nvSpPr>
        <p:spPr>
          <a:xfrm>
            <a:off x="11125200" y="678180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2" name="StageLabel"/>
          <p:cNvSpPr/>
          <p:nvPr/>
        </p:nvSpPr>
        <p:spPr>
          <a:xfrm>
            <a:off x="838200" y="1714500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00A8E0"/>
          </a:solidFill>
          <a:ln>
            <a:noFill/>
          </a:ln>
          <a:effectLst>
            <a:outerShdw blurRad="38100" dist="19050" dir="2700000" algn="tl" rotWithShape="0">
              <a:srgbClr val="0A1F44">
                <a:alpha val="30000"/>
              </a:srgbClr>
            </a:outerShdw>
          </a:effectLst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200" b="1" spc="200" dirty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90732-BB44-CC6C-B027-A5177C65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STAGE 2 – INTRODUCTION TO TESTING PHASES</a:t>
            </a:r>
          </a:p>
          <a:p>
            <a:pPr algn="l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Manual vs Automation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A34633-618F-427C-9A5F-965BC8BBE533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222500"/>
          <a:ext cx="10668000" cy="406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0896725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740282795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4104070907"/>
                    </a:ext>
                  </a:extLst>
                </a:gridCol>
              </a:tblGrid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Aspect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Manual Testing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Automation Testing</a:t>
                      </a:r>
                    </a:p>
                  </a:txBody>
                  <a:tcPr anchor="ctr"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94568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Executor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Human tester runs tests step-by-step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Tools/scripts run tests programmatically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687923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Speed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Slow; limited by human 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Fast; runs many tests in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2236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Accuracy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Prone to human error &amp; fatigue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Highly consistent and repeatable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09048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Cost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Low setup, high long-term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High setup, low long-term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205049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Best For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Exploratory, usability, UI/UX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Regression, load, repetitive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15457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Coverage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Limited by time and resources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A1F44"/>
                          </a:solidFill>
                          <a:latin typeface="Open Sans"/>
                          <a:ea typeface="Open Sans"/>
                          <a:cs typeface="Open Sans"/>
                        </a:rPr>
                        <a:t>Broad coverage across devices/browsers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47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66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TopLeftBar"/>
          <p:cNvSpPr/>
          <p:nvPr/>
        </p:nvSpPr>
        <p:spPr>
          <a:xfrm>
            <a:off x="0" y="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2520B-1D63-459F-7F9A-0D939B8A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AUTOMATION TESTING DEEP DIVE</a:t>
            </a:r>
          </a:p>
          <a:p>
            <a:pPr algn="l">
              <a:buNone/>
            </a:pPr>
            <a:r>
              <a:rPr lang="en-US" sz="3200" b="1" dirty="0">
                <a:solidFill>
                  <a:schemeClr val="accent3"/>
                </a:solidFill>
              </a:rPr>
              <a:t>Test Automation Frameworks</a:t>
            </a:r>
          </a:p>
        </p:txBody>
      </p:sp>
      <p:sp>
        <p:nvSpPr>
          <p:cNvPr id="3" name="DefBand">
            <a:extLst>
              <a:ext uri="{FF2B5EF4-FFF2-40B4-BE49-F238E27FC236}">
                <a16:creationId xmlns:a16="http://schemas.microsoft.com/office/drawing/2014/main" id="{E5EEF3B7-7D2F-4F0F-8DDC-4EB8C136514C}"/>
              </a:ext>
            </a:extLst>
          </p:cNvPr>
          <p:cNvSpPr/>
          <p:nvPr/>
        </p:nvSpPr>
        <p:spPr>
          <a:xfrm>
            <a:off x="762000" y="2057400"/>
            <a:ext cx="10668000" cy="711200"/>
          </a:xfrm>
          <a:prstGeom prst="roundRect">
            <a:avLst/>
          </a:prstGeom>
          <a:solidFill>
            <a:srgbClr val="EEF3FA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500" dirty="0">
                <a:solidFill>
                  <a:schemeClr val="accent3"/>
                </a:solidFill>
              </a:rPr>
              <a:t>A test automation framework is a structured set of guidelines, libraries, and tools that streamline the creation, execution, and maintenance of automated test scripts.</a:t>
            </a:r>
          </a:p>
        </p:txBody>
      </p:sp>
      <p:sp>
        <p:nvSpPr>
          <p:cNvPr id="4" name="FwCard_0">
            <a:extLst>
              <a:ext uri="{FF2B5EF4-FFF2-40B4-BE49-F238E27FC236}">
                <a16:creationId xmlns:a16="http://schemas.microsoft.com/office/drawing/2014/main" id="{07BA5043-40A3-4DD8-B88E-5CE12B77349C}"/>
              </a:ext>
            </a:extLst>
          </p:cNvPr>
          <p:cNvSpPr/>
          <p:nvPr/>
        </p:nvSpPr>
        <p:spPr>
          <a:xfrm>
            <a:off x="723900" y="30480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Linear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Record-and-playback. Simple, sequential scripts; quick to set up.</a:t>
            </a:r>
          </a:p>
        </p:txBody>
      </p:sp>
      <p:sp>
        <p:nvSpPr>
          <p:cNvPr id="5" name="FwCard_1">
            <a:extLst>
              <a:ext uri="{FF2B5EF4-FFF2-40B4-BE49-F238E27FC236}">
                <a16:creationId xmlns:a16="http://schemas.microsoft.com/office/drawing/2014/main" id="{756664C5-0FF8-48DB-9916-3B2EFE03437B}"/>
              </a:ext>
            </a:extLst>
          </p:cNvPr>
          <p:cNvSpPr/>
          <p:nvPr/>
        </p:nvSpPr>
        <p:spPr>
          <a:xfrm>
            <a:off x="4381500" y="30480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Modular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App split into reusable modules. Easier to maintain &amp; scale.</a:t>
            </a:r>
          </a:p>
        </p:txBody>
      </p:sp>
      <p:sp>
        <p:nvSpPr>
          <p:cNvPr id="6" name="FwCard_2">
            <a:extLst>
              <a:ext uri="{FF2B5EF4-FFF2-40B4-BE49-F238E27FC236}">
                <a16:creationId xmlns:a16="http://schemas.microsoft.com/office/drawing/2014/main" id="{4A315577-978F-4B9A-A8CD-00C3EEFB3C4E}"/>
              </a:ext>
            </a:extLst>
          </p:cNvPr>
          <p:cNvSpPr/>
          <p:nvPr/>
        </p:nvSpPr>
        <p:spPr>
          <a:xfrm>
            <a:off x="8039100" y="30480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Data-Driven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Test logic separated from data sources (Excel, CSV, database).</a:t>
            </a:r>
          </a:p>
        </p:txBody>
      </p:sp>
      <p:sp>
        <p:nvSpPr>
          <p:cNvPr id="7" name="FwCard_3">
            <a:extLst>
              <a:ext uri="{FF2B5EF4-FFF2-40B4-BE49-F238E27FC236}">
                <a16:creationId xmlns:a16="http://schemas.microsoft.com/office/drawing/2014/main" id="{BF1922A5-EF37-4BE8-9993-FEC730D5B310}"/>
              </a:ext>
            </a:extLst>
          </p:cNvPr>
          <p:cNvSpPr/>
          <p:nvPr/>
        </p:nvSpPr>
        <p:spPr>
          <a:xfrm>
            <a:off x="723900" y="46482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Keyword-Driven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Predefined keywords for actions. Low-code friendly for testers.</a:t>
            </a:r>
          </a:p>
        </p:txBody>
      </p:sp>
      <p:sp>
        <p:nvSpPr>
          <p:cNvPr id="8" name="FwCard_4">
            <a:extLst>
              <a:ext uri="{FF2B5EF4-FFF2-40B4-BE49-F238E27FC236}">
                <a16:creationId xmlns:a16="http://schemas.microsoft.com/office/drawing/2014/main" id="{B4B6F72F-D855-45A3-ADDE-D16F6B8F0979}"/>
              </a:ext>
            </a:extLst>
          </p:cNvPr>
          <p:cNvSpPr/>
          <p:nvPr/>
        </p:nvSpPr>
        <p:spPr>
          <a:xfrm>
            <a:off x="4381500" y="46482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Hybrid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Combines data-driven + keyword-driven. Most popular in industry.</a:t>
            </a:r>
          </a:p>
        </p:txBody>
      </p:sp>
      <p:sp>
        <p:nvSpPr>
          <p:cNvPr id="9" name="FwCard_5">
            <a:extLst>
              <a:ext uri="{FF2B5EF4-FFF2-40B4-BE49-F238E27FC236}">
                <a16:creationId xmlns:a16="http://schemas.microsoft.com/office/drawing/2014/main" id="{14CFDF1B-DD4A-4B84-90AE-45D4102B6131}"/>
              </a:ext>
            </a:extLst>
          </p:cNvPr>
          <p:cNvSpPr/>
          <p:nvPr/>
        </p:nvSpPr>
        <p:spPr>
          <a:xfrm>
            <a:off x="8039100" y="4648200"/>
            <a:ext cx="3429000" cy="1397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00A8E0"/>
            </a:solidFill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BDD</a:t>
            </a:r>
          </a:p>
          <a:p>
            <a:pPr algn="ctr">
              <a:buNone/>
            </a:pPr>
            <a:r>
              <a:rPr lang="en-US" sz="6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chemeClr val="dk1"/>
                </a:solidFill>
              </a:rPr>
              <a:t>Behaviour-Driven. Tests in plain language using Gherkin syntax.</a:t>
            </a:r>
          </a:p>
        </p:txBody>
      </p:sp>
    </p:spTree>
    <p:extLst>
      <p:ext uri="{BB962C8B-B14F-4D97-AF65-F5344CB8AC3E}">
        <p14:creationId xmlns:p14="http://schemas.microsoft.com/office/powerpoint/2010/main" val="297331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TopLeftBar"/>
          <p:cNvSpPr/>
          <p:nvPr/>
        </p:nvSpPr>
        <p:spPr>
          <a:xfrm>
            <a:off x="0" y="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BC6F3-3513-CFFA-57F0-599898F0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STAGE 3 – STARTS 25 MAY</a:t>
            </a:r>
          </a:p>
          <a:p>
            <a:pPr algn="l">
              <a:buNone/>
            </a:pPr>
            <a:r>
              <a:rPr lang="en-US" sz="3200" b="1" dirty="0">
                <a:solidFill>
                  <a:schemeClr val="accent3"/>
                </a:solidFill>
              </a:rPr>
              <a:t>Testing Framework Development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B50874-FA1D-4BC2-B760-057988608824}"/>
              </a:ext>
            </a:extLst>
          </p:cNvPr>
          <p:cNvSpPr/>
          <p:nvPr/>
        </p:nvSpPr>
        <p:spPr>
          <a:xfrm>
            <a:off x="762000" y="2476500"/>
            <a:ext cx="889000" cy="16510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ActCard_0">
            <a:extLst>
              <a:ext uri="{FF2B5EF4-FFF2-40B4-BE49-F238E27FC236}">
                <a16:creationId xmlns:a16="http://schemas.microsoft.com/office/drawing/2014/main" id="{1304E31F-3FE6-44EA-BFD1-4300AC5F5071}"/>
              </a:ext>
            </a:extLst>
          </p:cNvPr>
          <p:cNvSpPr/>
          <p:nvPr/>
        </p:nvSpPr>
        <p:spPr>
          <a:xfrm>
            <a:off x="1651000" y="2476500"/>
            <a:ext cx="4318000" cy="1651000"/>
          </a:xfrm>
          <a:prstGeom prst="rect">
            <a:avLst/>
          </a:prstGeom>
          <a:solidFill>
            <a:srgbClr val="EEF3FA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52400" tIns="91440" rIns="152400" bIns="9144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3"/>
                </a:solidFill>
              </a:rPr>
              <a:t>Hands-on Tooling</a:t>
            </a:r>
          </a:p>
          <a:p>
            <a:pPr marL="0" indent="0" algn="l">
              <a:buNone/>
            </a:pPr>
            <a:r>
              <a:rPr lang="en-US" sz="600" dirty="0"/>
              <a:t>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dk1"/>
                </a:solidFill>
              </a:rPr>
              <a:t>Selenium, TestNG, JUnit &amp; Java for real automation projects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2F4A7-4FBC-4FDC-B26E-7853CBFE106B}"/>
              </a:ext>
            </a:extLst>
          </p:cNvPr>
          <p:cNvSpPr/>
          <p:nvPr/>
        </p:nvSpPr>
        <p:spPr>
          <a:xfrm>
            <a:off x="6223000" y="2476500"/>
            <a:ext cx="889000" cy="16510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ActCard_1">
            <a:extLst>
              <a:ext uri="{FF2B5EF4-FFF2-40B4-BE49-F238E27FC236}">
                <a16:creationId xmlns:a16="http://schemas.microsoft.com/office/drawing/2014/main" id="{6990DB10-C5BF-4998-A042-55E56E661196}"/>
              </a:ext>
            </a:extLst>
          </p:cNvPr>
          <p:cNvSpPr/>
          <p:nvPr/>
        </p:nvSpPr>
        <p:spPr>
          <a:xfrm>
            <a:off x="7112000" y="2476500"/>
            <a:ext cx="4318000" cy="1651000"/>
          </a:xfrm>
          <a:prstGeom prst="rect">
            <a:avLst/>
          </a:prstGeom>
          <a:solidFill>
            <a:srgbClr val="EEF3FA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52400" tIns="91440" rIns="152400" bIns="9144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Build Frameworks</a:t>
            </a:r>
          </a:p>
          <a:p>
            <a:pPr marL="0" indent="0" algn="l">
              <a:buNone/>
            </a:pPr>
            <a:r>
              <a:rPr lang="en-US" sz="600" dirty="0"/>
              <a:t>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dk1"/>
                </a:solidFill>
              </a:rPr>
              <a:t>Design Hybrid frameworks combining data + keyword-driven approaches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0D1D4-804B-436A-A279-EA5DF726D340}"/>
              </a:ext>
            </a:extLst>
          </p:cNvPr>
          <p:cNvSpPr/>
          <p:nvPr/>
        </p:nvSpPr>
        <p:spPr>
          <a:xfrm>
            <a:off x="762000" y="4330700"/>
            <a:ext cx="889000" cy="16510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ActCard_2">
            <a:extLst>
              <a:ext uri="{FF2B5EF4-FFF2-40B4-BE49-F238E27FC236}">
                <a16:creationId xmlns:a16="http://schemas.microsoft.com/office/drawing/2014/main" id="{F596C7FE-2108-4A80-8ABB-2CFB0E822A42}"/>
              </a:ext>
            </a:extLst>
          </p:cNvPr>
          <p:cNvSpPr/>
          <p:nvPr/>
        </p:nvSpPr>
        <p:spPr>
          <a:xfrm>
            <a:off x="1651000" y="4330700"/>
            <a:ext cx="4318000" cy="1651000"/>
          </a:xfrm>
          <a:prstGeom prst="rect">
            <a:avLst/>
          </a:prstGeom>
          <a:solidFill>
            <a:srgbClr val="EEF3FA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52400" tIns="91440" rIns="152400" bIns="9144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Page Object Model</a:t>
            </a:r>
          </a:p>
          <a:p>
            <a:pPr marL="0" indent="0" algn="l">
              <a:buNone/>
            </a:pPr>
            <a:r>
              <a:rPr lang="en-US" sz="600" dirty="0"/>
              <a:t>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dk1"/>
                </a:solidFill>
              </a:rPr>
              <a:t>Industry-standard POM design pattern for maintainable test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906B59-1E61-4A44-96EF-AA04F2E96D2A}"/>
              </a:ext>
            </a:extLst>
          </p:cNvPr>
          <p:cNvSpPr/>
          <p:nvPr/>
        </p:nvSpPr>
        <p:spPr>
          <a:xfrm>
            <a:off x="6223000" y="4330700"/>
            <a:ext cx="889000" cy="16510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ActCard_3">
            <a:extLst>
              <a:ext uri="{FF2B5EF4-FFF2-40B4-BE49-F238E27FC236}">
                <a16:creationId xmlns:a16="http://schemas.microsoft.com/office/drawing/2014/main" id="{2797311C-3563-4387-8698-35ACB44C2DF6}"/>
              </a:ext>
            </a:extLst>
          </p:cNvPr>
          <p:cNvSpPr/>
          <p:nvPr/>
        </p:nvSpPr>
        <p:spPr>
          <a:xfrm>
            <a:off x="7112000" y="4330700"/>
            <a:ext cx="4318000" cy="1651000"/>
          </a:xfrm>
          <a:prstGeom prst="rect">
            <a:avLst/>
          </a:prstGeom>
          <a:solidFill>
            <a:srgbClr val="EEF3FA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52400" tIns="91440" rIns="152400" bIns="9144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CI/CD Integration</a:t>
            </a:r>
          </a:p>
          <a:p>
            <a:pPr marL="0" indent="0" algn="l">
              <a:buNone/>
            </a:pPr>
            <a:r>
              <a:rPr lang="en-US" sz="600" dirty="0"/>
              <a:t>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dk1"/>
                </a:solidFill>
              </a:rPr>
              <a:t>Plug automated tests into Jenkins pipelines for continuous testing</a:t>
            </a:r>
          </a:p>
        </p:txBody>
      </p:sp>
      <p:sp>
        <p:nvSpPr>
          <p:cNvPr id="11" name="DurationBar">
            <a:extLst>
              <a:ext uri="{FF2B5EF4-FFF2-40B4-BE49-F238E27FC236}">
                <a16:creationId xmlns:a16="http://schemas.microsoft.com/office/drawing/2014/main" id="{3E674C85-0472-4432-BAEE-3485B95352C0}"/>
              </a:ext>
            </a:extLst>
          </p:cNvPr>
          <p:cNvSpPr/>
          <p:nvPr/>
        </p:nvSpPr>
        <p:spPr>
          <a:xfrm>
            <a:off x="762000" y="6159500"/>
            <a:ext cx="10668000" cy="457200"/>
          </a:xfrm>
          <a:prstGeom prst="round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  <a:effectLst>
            <a:outerShdw blurRad="50800" dist="25400" dir="2700000" algn="tl" rotWithShape="0">
              <a:srgbClr val="0A1F44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Duration: 25 May – 15 June  •  Outcome: A working hybrid automation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19281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TopLeftBar"/>
          <p:cNvSpPr/>
          <p:nvPr/>
        </p:nvSpPr>
        <p:spPr>
          <a:xfrm>
            <a:off x="0" y="0"/>
            <a:ext cx="685800" cy="762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E8D54-3DA8-22EA-12FD-CD6C666D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INTERNSHIP TIMELINE</a:t>
            </a:r>
          </a:p>
          <a:p>
            <a:pPr algn="l">
              <a:buNone/>
            </a:pPr>
            <a:r>
              <a:rPr lang="en-US" sz="3200" b="1" dirty="0">
                <a:solidFill>
                  <a:schemeClr val="accent3"/>
                </a:solidFill>
              </a:rPr>
              <a:t>Stage Completion Dates</a:t>
            </a:r>
          </a:p>
        </p:txBody>
      </p:sp>
      <p:sp>
        <p:nvSpPr>
          <p:cNvPr id="24" name="TLLine">
            <a:extLst>
              <a:ext uri="{FF2B5EF4-FFF2-40B4-BE49-F238E27FC236}">
                <a16:creationId xmlns:a16="http://schemas.microsoft.com/office/drawing/2014/main" id="{5F91657E-0A47-4B64-BF62-FC93C1FCF537}"/>
              </a:ext>
            </a:extLst>
          </p:cNvPr>
          <p:cNvSpPr/>
          <p:nvPr/>
        </p:nvSpPr>
        <p:spPr>
          <a:xfrm>
            <a:off x="1143000" y="4038600"/>
            <a:ext cx="9906000" cy="508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B03D54-CAA6-491E-8D87-7F32FA217C75}"/>
              </a:ext>
            </a:extLst>
          </p:cNvPr>
          <p:cNvSpPr/>
          <p:nvPr/>
        </p:nvSpPr>
        <p:spPr>
          <a:xfrm>
            <a:off x="1092200" y="3556000"/>
            <a:ext cx="101600" cy="4064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CBB921-F8A1-4534-AB8D-08668C03BFC7}"/>
              </a:ext>
            </a:extLst>
          </p:cNvPr>
          <p:cNvSpPr/>
          <p:nvPr/>
        </p:nvSpPr>
        <p:spPr>
          <a:xfrm>
            <a:off x="190500" y="2921000"/>
            <a:ext cx="1905000" cy="482600"/>
          </a:xfrm>
          <a:prstGeom prst="round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9 March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3162FF-43DE-4D43-9415-E3FAB35DC10A}"/>
              </a:ext>
            </a:extLst>
          </p:cNvPr>
          <p:cNvSpPr txBox="1"/>
          <p:nvPr/>
        </p:nvSpPr>
        <p:spPr>
          <a:xfrm>
            <a:off x="190500" y="2159000"/>
            <a:ext cx="1905000" cy="7112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IN" sz="1400" b="1">
                <a:solidFill>
                  <a:srgbClr val="0A1F44"/>
                </a:solidFill>
              </a:rPr>
              <a:t>Behavioural
Training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05C8EC-9973-4AC3-831A-5B2DB73142D6}"/>
              </a:ext>
            </a:extLst>
          </p:cNvPr>
          <p:cNvSpPr/>
          <p:nvPr/>
        </p:nvSpPr>
        <p:spPr>
          <a:xfrm>
            <a:off x="863600" y="3784600"/>
            <a:ext cx="558800" cy="558800"/>
          </a:xfrm>
          <a:prstGeom prst="ellipse">
            <a:avLst/>
          </a:prstGeom>
          <a:solidFill>
            <a:srgbClr val="1F4E9D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9CA89D-7564-4FD0-804A-ED057DFD9F01}"/>
              </a:ext>
            </a:extLst>
          </p:cNvPr>
          <p:cNvSpPr/>
          <p:nvPr/>
        </p:nvSpPr>
        <p:spPr>
          <a:xfrm>
            <a:off x="3568700" y="4165600"/>
            <a:ext cx="101600" cy="406400"/>
          </a:xfrm>
          <a:prstGeom prst="rect">
            <a:avLst/>
          </a:prstGeom>
          <a:solidFill>
            <a:srgbClr val="2A6B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B56672-EAB5-4717-BE5B-BE625FE32531}"/>
              </a:ext>
            </a:extLst>
          </p:cNvPr>
          <p:cNvSpPr/>
          <p:nvPr/>
        </p:nvSpPr>
        <p:spPr>
          <a:xfrm>
            <a:off x="2667000" y="4699000"/>
            <a:ext cx="1905000" cy="482600"/>
          </a:xfrm>
          <a:prstGeom prst="roundRect">
            <a:avLst/>
          </a:prstGeom>
          <a:solidFill>
            <a:srgbClr val="2A6BBF"/>
          </a:solidFill>
          <a:ln w="12700" cap="flat" cmpd="sng" algn="ctr">
            <a:noFill/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 dirty="0">
                <a:solidFill>
                  <a:srgbClr val="FFFFFF"/>
                </a:solidFill>
              </a:rPr>
              <a:t>1 May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C1FAF6-A8B7-4ED2-9493-D8E46217C405}"/>
              </a:ext>
            </a:extLst>
          </p:cNvPr>
          <p:cNvSpPr txBox="1"/>
          <p:nvPr/>
        </p:nvSpPr>
        <p:spPr>
          <a:xfrm>
            <a:off x="2667000" y="5232400"/>
            <a:ext cx="1905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0A1F44"/>
                </a:solidFill>
              </a:rPr>
              <a:t>Testing
Phases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7B77E6-4EE2-41B9-A657-F06ACD8F16E4}"/>
              </a:ext>
            </a:extLst>
          </p:cNvPr>
          <p:cNvSpPr/>
          <p:nvPr/>
        </p:nvSpPr>
        <p:spPr>
          <a:xfrm>
            <a:off x="3340100" y="3784600"/>
            <a:ext cx="558800" cy="558800"/>
          </a:xfrm>
          <a:prstGeom prst="ellipse">
            <a:avLst/>
          </a:prstGeom>
          <a:solidFill>
            <a:srgbClr val="2A6BBF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26C10-3A28-4910-9C5F-CA95253EB9A4}"/>
              </a:ext>
            </a:extLst>
          </p:cNvPr>
          <p:cNvSpPr/>
          <p:nvPr/>
        </p:nvSpPr>
        <p:spPr>
          <a:xfrm>
            <a:off x="6045200" y="3556000"/>
            <a:ext cx="101600" cy="406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C0DDEE-90C8-4678-8942-A22F41139C5B}"/>
              </a:ext>
            </a:extLst>
          </p:cNvPr>
          <p:cNvSpPr/>
          <p:nvPr/>
        </p:nvSpPr>
        <p:spPr>
          <a:xfrm>
            <a:off x="5143500" y="2921000"/>
            <a:ext cx="1905000" cy="482600"/>
          </a:xfrm>
          <a:prstGeom prst="round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1</a:t>
            </a:r>
            <a:r>
              <a:rPr lang="en-IN" sz="1600" b="1" dirty="0">
                <a:solidFill>
                  <a:srgbClr val="FFFFFF"/>
                </a:solidFill>
              </a:rPr>
              <a:t> June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620199-EE2A-485F-A50C-B03870BC3D26}"/>
              </a:ext>
            </a:extLst>
          </p:cNvPr>
          <p:cNvSpPr txBox="1"/>
          <p:nvPr/>
        </p:nvSpPr>
        <p:spPr>
          <a:xfrm>
            <a:off x="5143500" y="2159000"/>
            <a:ext cx="1905000" cy="7112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IN" sz="1400" b="1">
                <a:solidFill>
                  <a:srgbClr val="0A1F44"/>
                </a:solidFill>
              </a:rPr>
              <a:t>Framework
Development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4B828C-822C-4947-9DD9-DA4C3C00620E}"/>
              </a:ext>
            </a:extLst>
          </p:cNvPr>
          <p:cNvSpPr/>
          <p:nvPr/>
        </p:nvSpPr>
        <p:spPr>
          <a:xfrm>
            <a:off x="5816600" y="3784600"/>
            <a:ext cx="558800" cy="558800"/>
          </a:xfrm>
          <a:prstGeom prst="ellipse">
            <a:avLst/>
          </a:prstGeom>
          <a:solidFill>
            <a:srgbClr val="0A1F44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FC0DB9-C993-4DC9-9E9A-70C2672C4EEC}"/>
              </a:ext>
            </a:extLst>
          </p:cNvPr>
          <p:cNvSpPr/>
          <p:nvPr/>
        </p:nvSpPr>
        <p:spPr>
          <a:xfrm>
            <a:off x="8521700" y="4165600"/>
            <a:ext cx="101600" cy="406400"/>
          </a:xfrm>
          <a:prstGeom prst="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7148BFB-6DAD-4CC4-808B-9441EA35EC72}"/>
              </a:ext>
            </a:extLst>
          </p:cNvPr>
          <p:cNvSpPr/>
          <p:nvPr/>
        </p:nvSpPr>
        <p:spPr>
          <a:xfrm>
            <a:off x="7620000" y="4699000"/>
            <a:ext cx="1905000" cy="482600"/>
          </a:xfrm>
          <a:prstGeom prst="roundRect">
            <a:avLst/>
          </a:prstGeom>
          <a:solidFill>
            <a:srgbClr val="1F4E9D"/>
          </a:solidFill>
          <a:ln w="12700" cap="flat" cmpd="sng" algn="ctr">
            <a:noFill/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2</a:t>
            </a:r>
            <a:r>
              <a:rPr lang="en-IN" sz="1600" b="1" dirty="0">
                <a:solidFill>
                  <a:srgbClr val="FFFFFF"/>
                </a:solidFill>
              </a:rPr>
              <a:t>5 June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10294A-C43B-4977-B2CD-E0B1C2D73938}"/>
              </a:ext>
            </a:extLst>
          </p:cNvPr>
          <p:cNvSpPr txBox="1"/>
          <p:nvPr/>
        </p:nvSpPr>
        <p:spPr>
          <a:xfrm>
            <a:off x="7620000" y="5232400"/>
            <a:ext cx="1905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0A1F44"/>
                </a:solidFill>
              </a:rPr>
              <a:t>Project
Development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8AA5CB0-73C2-424D-AE7A-E2D194572D8F}"/>
              </a:ext>
            </a:extLst>
          </p:cNvPr>
          <p:cNvSpPr/>
          <p:nvPr/>
        </p:nvSpPr>
        <p:spPr>
          <a:xfrm>
            <a:off x="8293100" y="3784600"/>
            <a:ext cx="558800" cy="558800"/>
          </a:xfrm>
          <a:prstGeom prst="ellipse">
            <a:avLst/>
          </a:prstGeom>
          <a:solidFill>
            <a:srgbClr val="1F4E9D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F9C3A3-5D32-4EC9-AB30-B304AD52C194}"/>
              </a:ext>
            </a:extLst>
          </p:cNvPr>
          <p:cNvSpPr/>
          <p:nvPr/>
        </p:nvSpPr>
        <p:spPr>
          <a:xfrm>
            <a:off x="10998200" y="3556000"/>
            <a:ext cx="101600" cy="406400"/>
          </a:xfrm>
          <a:prstGeom prst="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9FB06DD-49B4-4BEB-9986-48A2D76BA0A6}"/>
              </a:ext>
            </a:extLst>
          </p:cNvPr>
          <p:cNvSpPr/>
          <p:nvPr/>
        </p:nvSpPr>
        <p:spPr>
          <a:xfrm>
            <a:off x="10096500" y="2921000"/>
            <a:ext cx="1905000" cy="482600"/>
          </a:xfrm>
          <a:prstGeom prst="roundRect">
            <a:avLst/>
          </a:prstGeom>
          <a:solidFill>
            <a:srgbClr val="0A1F44"/>
          </a:solidFill>
          <a:ln w="12700" cap="flat" cmpd="sng" algn="ctr">
            <a:noFill/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10 July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E37340-6B8D-496C-BD8E-04400DC9C163}"/>
              </a:ext>
            </a:extLst>
          </p:cNvPr>
          <p:cNvSpPr txBox="1"/>
          <p:nvPr/>
        </p:nvSpPr>
        <p:spPr>
          <a:xfrm>
            <a:off x="10096500" y="2159000"/>
            <a:ext cx="1905000" cy="7112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IN" sz="1400" b="1">
                <a:solidFill>
                  <a:srgbClr val="0A1F44"/>
                </a:solidFill>
              </a:rPr>
              <a:t>Final Test
&amp; Interview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A4FAE9C-CC43-4AE8-B4C4-D0A10126221E}"/>
              </a:ext>
            </a:extLst>
          </p:cNvPr>
          <p:cNvSpPr/>
          <p:nvPr/>
        </p:nvSpPr>
        <p:spPr>
          <a:xfrm>
            <a:off x="10769600" y="3784600"/>
            <a:ext cx="558800" cy="558800"/>
          </a:xfrm>
          <a:prstGeom prst="ellipse">
            <a:avLst/>
          </a:prstGeom>
          <a:solidFill>
            <a:srgbClr val="0A1F44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38100" dist="19050" dir="2700000" algn="tl" rotWithShape="0">
              <a:srgbClr val="0A1F44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3520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F44"/>
            </a:gs>
            <a:gs pos="100000">
              <a:srgbClr val="1F4E9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DecCircleA"/>
          <p:cNvSpPr/>
          <p:nvPr/>
        </p:nvSpPr>
        <p:spPr>
          <a:xfrm>
            <a:off x="-1143000" y="4800000"/>
            <a:ext cx="2743200" cy="2743200"/>
          </a:xfrm>
          <a:prstGeom prst="ellipse">
            <a:avLst/>
          </a:prstGeom>
          <a:solidFill>
            <a:srgbClr val="00A8E0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02" name="DecCircleB"/>
          <p:cNvSpPr/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00A8E0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03" name="DecBar"/>
          <p:cNvSpPr/>
          <p:nvPr/>
        </p:nvSpPr>
        <p:spPr>
          <a:xfrm>
            <a:off x="4826000" y="5461000"/>
            <a:ext cx="2540000" cy="38100"/>
          </a:xfrm>
          <a:prstGeom prst="rect">
            <a:avLst/>
          </a:prstGeom>
          <a:solidFill>
            <a:srgbClr val="00A8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AE946-76E3-0E92-3D4B-E2477D484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71485-3CBE-AD3B-11ED-8B63ED128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 b="1" dirty="0">
                <a:solidFill>
                  <a:srgbClr val="00A8E0"/>
                </a:solidFill>
              </a:rPr>
              <a:t>Mohd Suheb Siddique</a:t>
            </a:r>
          </a:p>
          <a:p>
            <a:pPr algn="ctr">
              <a:buNone/>
            </a:pPr>
            <a:r>
              <a:rPr lang="en-US" sz="1600" dirty="0">
                <a:solidFill>
                  <a:srgbClr val="CFE4F7"/>
                </a:solidFill>
              </a:rPr>
              <a:t>Programmer Analyst Trainee  |  Cognizant</a:t>
            </a:r>
          </a:p>
        </p:txBody>
      </p:sp>
    </p:spTree>
    <p:extLst>
      <p:ext uri="{BB962C8B-B14F-4D97-AF65-F5344CB8AC3E}">
        <p14:creationId xmlns:p14="http://schemas.microsoft.com/office/powerpoint/2010/main" val="341071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609579172]">
  <a:themeElements>
    <a:clrScheme name="Office">
      <a:dk1>
        <a:srgbClr val="0A1F44"/>
      </a:dk1>
      <a:lt1>
        <a:srgbClr val="FFFFFF"/>
      </a:lt1>
      <a:dk2>
        <a:srgbClr val="0A1F44"/>
      </a:dk2>
      <a:lt2>
        <a:srgbClr val="EEF3FA"/>
      </a:lt2>
      <a:accent1>
        <a:srgbClr val="1F4E9D"/>
      </a:accent1>
      <a:accent2>
        <a:srgbClr val="00A8E0"/>
      </a:accent2>
      <a:accent3>
        <a:srgbClr val="0A1F44"/>
      </a:accent3>
      <a:accent4>
        <a:srgbClr val="4A90D9"/>
      </a:accent4>
      <a:accent5>
        <a:srgbClr val="8FB8E2"/>
      </a:accent5>
      <a:accent6>
        <a:srgbClr val="F39200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e1f633-c611-4788-83e7-92bffdd7af8f}">
  <we:reference id="WA200010001" version="1.0.0.1" store="en-US" storeType="OMEX"/>
  <we:alternateReferences/>
  <we:properties>
    <we:property name="Microsoft.Office.CampaignId" value="&quot;none&quot;"/>
    <we:property name="claude.fileId" value="&quot;c7751a0d-3c3c-46de-ba02-559abe5e119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f577acbf-5b0b-4b4f-9948-268e97f8d3a4"/>
    <ds:schemaRef ds:uri="http://schemas.microsoft.com/office/infopath/2007/PartnerControls"/>
    <ds:schemaRef ds:uri="http://schemas.openxmlformats.org/package/2006/metadata/core-properties"/>
    <ds:schemaRef ds:uri="b1e4d6ee-9f6f-43f8-a618-24f3d84da28f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487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Office Theme [1777609579172]</vt:lpstr>
      <vt:lpstr>INTERNSHIP EXAM Cognizant Software Developer Engineering in Testing</vt:lpstr>
      <vt:lpstr>Offer Letter</vt:lpstr>
      <vt:lpstr>The Internship Path Five stages from onboarding to project completion</vt:lpstr>
      <vt:lpstr>STAGE 1 Behavioural Training</vt:lpstr>
      <vt:lpstr>STAGE 2 – INTRODUCTION TO TESTING PHASES Manual vs Automation Testing</vt:lpstr>
      <vt:lpstr>AUTOMATION TESTING DEEP DIVE Test Automation Frameworks</vt:lpstr>
      <vt:lpstr>STAGE 3 – STARTS 25 MAY Testing Framework Development</vt:lpstr>
      <vt:lpstr>INTERNSHIP TIMELINE Stage Completion Dates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Siddique, Mohd Suheb (Contractor)</cp:lastModifiedBy>
  <cp:revision>5</cp:revision>
  <dcterms:created xsi:type="dcterms:W3CDTF">2018-06-07T21:39:02Z</dcterms:created>
  <dcterms:modified xsi:type="dcterms:W3CDTF">2026-06-08T15:51:53Z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